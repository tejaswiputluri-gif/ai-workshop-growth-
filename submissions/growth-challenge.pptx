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  NXTWAVE  /  GROWTH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6A"/>
                </a:solidFill>
                <a:latin typeface="Aptos"/>
              </a:rPr>
              <a:t>01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THE STUDENT + THE JOB TO BE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2C23"/>
                </a:solidFill>
                <a:latin typeface="Aptos Display"/>
              </a:rPr>
              <a:t>From “I studied AI” to “I built this.”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0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6A"/>
                </a:solidFill>
                <a:latin typeface="Aptos"/>
              </a:rPr>
              <a:t>A credible first project is more motivating than another vague promise about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5257800" cy="3063240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PRIMARY PERSONA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44805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C23"/>
                </a:solidFill>
                <a:latin typeface="Aptos Display"/>
              </a:rPr>
              <a:t>Final-year B.Tech</a:t>
            </a:r>
            <a:br/>
            <a:r>
              <a:rPr sz="2600" b="1">
                <a:solidFill>
                  <a:srgbClr val="172C23"/>
                </a:solidFill>
                <a:latin typeface="Aptos Display"/>
              </a:rPr>
              <a:t>CSE (AI &amp; 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6A"/>
                </a:solidFill>
                <a:latin typeface="Aptos"/>
              </a:rPr>
              <a:t>Tier-2/3 college · balancing placements, coursework and project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72C23"/>
                </a:solidFill>
                <a:latin typeface="Aptos"/>
              </a:rPr>
              <a:t>“I know the concepts, but can I build and explain a working project?”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1343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78608"/>
            <a:ext cx="49377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C23"/>
                </a:solidFill>
                <a:latin typeface="Aptos"/>
              </a:rPr>
              <a:t>A small guided build they can explain—not a promise of AI mastery or a job.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192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3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602736"/>
            <a:ext cx="528523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675887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01   Name the project; “free” is not enough.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041648"/>
            <a:ext cx="528523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114800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02   Peer context can make a share feel relevant.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480560"/>
            <a:ext cx="528523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553712"/>
            <a:ext cx="4892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03   A 60-minute promise needs small scope.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504688"/>
            <a:ext cx="10954512" cy="713232"/>
          </a:xfrm>
          <a:prstGeom prst="roundRect">
            <a:avLst>
              <a:gd name="adj" fmla="val 12000"/>
            </a:avLst>
          </a:prstGeom>
          <a:solidFill>
            <a:srgbClr val="17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6509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3EF79"/>
                </a:solidFill>
                <a:latin typeface="Aptos"/>
              </a:rPr>
              <a:t>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9235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Build one small AI chatbot/classifier in 60 minutes—with a guided walkthrough and starter code. (Assumption)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18504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ASSUMED EVENT: Saturday 7 PM IST · 60 min · Zoom/Meet + recording · example AI tool/API + starter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  NXTWAVE  /  GROWTH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6A"/>
                </a:solidFill>
                <a:latin typeface="Aptos"/>
              </a:rPr>
              <a:t>02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PRIORITISE TRUST AND TRACKABILITY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2C23"/>
                </a:solidFill>
                <a:latin typeface="Aptos Display"/>
              </a:rPr>
              <a:t>Four focused channels. One clear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0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6A"/>
                </a:solidFill>
                <a:latin typeface="Aptos"/>
              </a:rPr>
              <a:t>Permission-based student distribution; projections only, not campaign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84831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084831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PLANNING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6" y="2084831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VISITS · CONV.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2084831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REGISTRATIONS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208483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64746A"/>
                </a:solidFill>
                <a:latin typeface="Aptos"/>
              </a:rPr>
              <a:t>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59152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87168"/>
            <a:ext cx="2770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01  College technical clubs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54203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5,000 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254203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600 /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5420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150 regs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5420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₹350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45059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One approved post with a concrete project and session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18104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246120"/>
            <a:ext cx="2770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02  Student ambassadors / peers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30098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3,500 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330098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525 / 30.1%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009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158 regs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33009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₹450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20954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Voluntary sharing; unique links and referral codes.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877056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005072"/>
            <a:ext cx="2770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03  Permitted WhatsApp / Telegram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05993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5,000 reach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405993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500 /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405993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100 regs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1936" y="4059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₹300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968496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One admin-approved post; no repeated or unsolicited messages.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636008"/>
            <a:ext cx="10954512" cy="6309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764024"/>
            <a:ext cx="2770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04  Placement communities / 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48188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7,500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2976" y="481888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600 / 15.3%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6016" y="481888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72C23"/>
                </a:solidFill>
                <a:latin typeface="Aptos"/>
              </a:rPr>
              <a:t>92 regs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48188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₹250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727448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Relevant communities; email only where permission is appropriate.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568696"/>
            <a:ext cx="10954512" cy="640080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76986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72C23"/>
                </a:solidFill>
                <a:latin typeface="Aptos"/>
              </a:rPr>
              <a:t>MEASURE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05856"/>
            <a:ext cx="95097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UTM link per channel + one registration per normalised email. Referral code is a separate inviter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  NXTWAVE  /  GROWTH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6A"/>
                </a:solidFill>
                <a:latin typeface="Aptos"/>
              </a:rPr>
              <a:t>03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SEVEN DAYS, ₹2,000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2C23"/>
                </a:solidFill>
                <a:latin typeface="Aptos Display"/>
              </a:rPr>
              <a:t>Planned spend: ₹1,350. Keep ₹650 unspent.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0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6A"/>
                </a:solidFill>
                <a:latin typeface="Aptos"/>
              </a:rPr>
              <a:t>Simulation only: no campaign spend or outreach has taken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Copy, page,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8296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Ask clubs &amp;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admins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928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Approved club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sharing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4688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59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Voluntary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referrals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Placement /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permitted 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59952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78824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Fix friction;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one reminder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87584" y="2176272"/>
            <a:ext cx="1408176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6456" y="23134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D7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6" y="2578608"/>
            <a:ext cx="11795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6A"/>
                </a:solidFill>
                <a:latin typeface="Aptos"/>
              </a:rPr>
              <a:t>Final check;</a:t>
            </a:r>
            <a:br/>
            <a:r>
              <a:rPr sz="800" b="0">
                <a:solidFill>
                  <a:srgbClr val="64746A"/>
                </a:solidFill>
                <a:latin typeface="Aptos"/>
              </a:rPr>
              <a:t>report actuals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35387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BUDGET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387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7947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Club posters / QR material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7947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₹350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1148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Volunteer coordination / travel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11480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₹450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4348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Community coordination /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4348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75488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Email / material preparation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7548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₹250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01768"/>
            <a:ext cx="5394960" cy="7315"/>
          </a:xfrm>
          <a:prstGeom prst="rect">
            <a:avLst/>
          </a:prstGeom>
          <a:solidFill>
            <a:srgbClr val="DC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07492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Free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0749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39496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Unallocated buffer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3949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₹650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641848"/>
            <a:ext cx="5394960" cy="7315"/>
          </a:xfrm>
          <a:prstGeom prst="rect">
            <a:avLst/>
          </a:prstGeom>
          <a:solidFill>
            <a:srgbClr val="DC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0800" y="3502152"/>
            <a:ext cx="5074920" cy="2450592"/>
          </a:xfrm>
          <a:prstGeom prst="roundRect">
            <a:avLst>
              <a:gd name="adj" fmla="val 12000"/>
            </a:avLst>
          </a:prstGeom>
          <a:solidFill>
            <a:srgbClr val="17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3794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3EF79"/>
                </a:solidFill>
                <a:latin typeface="Aptos"/>
              </a:rPr>
              <a:t>CHECKPOINTS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142232"/>
            <a:ext cx="429768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Day 3 · verify links and visits</a:t>
            </a:r>
            <a:br/>
            <a:r>
              <a:rPr sz="1100" b="0">
                <a:solidFill>
                  <a:srgbClr val="FFFFFF"/>
                </a:solidFill>
                <a:latin typeface="Aptos"/>
              </a:rPr>
              <a:t>Day 4 · inspect referral attribution</a:t>
            </a:r>
            <a:br/>
            <a:r>
              <a:rPr sz="1100" b="0">
                <a:solidFill>
                  <a:srgbClr val="FFFFFF"/>
                </a:solidFill>
                <a:latin typeface="Aptos"/>
              </a:rPr>
              <a:t>Day 5 · compare actuals with plan</a:t>
            </a:r>
            <a:br/>
            <a:r>
              <a:rPr sz="1100" b="0">
                <a:solidFill>
                  <a:srgbClr val="FFFFFF"/>
                </a:solidFill>
                <a:latin typeface="Aptos"/>
              </a:rPr>
              <a:t>Day 6 · improve copy/form before adding channels</a:t>
            </a:r>
            <a:br/>
            <a:r>
              <a:rPr sz="1100" b="0">
                <a:solidFill>
                  <a:srgbClr val="FFFFFF"/>
                </a:solidFill>
                <a:latin typeface="Aptos"/>
              </a:rPr>
              <a:t>Day 7 · report actuals separately from target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5321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3EF79"/>
                </a:solidFill>
                <a:latin typeface="Aptos"/>
              </a:rPr>
              <a:t>Only spend buffer with a clear, permitted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  NXTWAVE  /  GROWTH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6A"/>
                </a:solidFill>
                <a:latin typeface="Aptos"/>
              </a:rPr>
              <a:t>04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TRANSPARENT PLANNING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2C23"/>
                </a:solidFill>
                <a:latin typeface="Aptos Display"/>
              </a:rPr>
              <a:t>Target funnel: 21,000 → 2,225 → 500.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0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6A"/>
                </a:solidFill>
                <a:latin typeface="Aptos"/>
              </a:rPr>
              <a:t>Planning assumptions: reach may overlap; channel-attributed registrations do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01568" cy="1371600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PLANNED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883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2C23"/>
                </a:solidFill>
                <a:latin typeface="Aptos Display"/>
              </a:rPr>
              <a:t>21,000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72968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10.6% reach → 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51760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4746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48840"/>
            <a:ext cx="3401568" cy="1371600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VISITS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883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72C23"/>
                </a:solidFill>
                <a:latin typeface="Aptos Display"/>
              </a:rPr>
              <a:t>2,225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72968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22.5% visit →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651760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4746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148840"/>
            <a:ext cx="3401568" cy="1371600"/>
          </a:xfrm>
          <a:prstGeom prst="roundRect">
            <a:avLst>
              <a:gd name="adj" fmla="val 12000"/>
            </a:avLst>
          </a:prstGeom>
          <a:solidFill>
            <a:srgbClr val="17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3EF79"/>
                </a:solidFill>
                <a:latin typeface="Aptos"/>
              </a:rPr>
              <a:t>REGISTRATIONS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883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72968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100% of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77639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REGISTRATION TARGET BY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35254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Clubs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4370831"/>
            <a:ext cx="4754880" cy="12801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4600" y="4370831"/>
            <a:ext cx="4514126" cy="128016"/>
          </a:xfrm>
          <a:prstGeom prst="roundRect">
            <a:avLst>
              <a:gd name="adj" fmla="val 12000"/>
            </a:avLst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3342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7000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Peers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4718303"/>
            <a:ext cx="4754880" cy="12801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14600" y="4718303"/>
            <a:ext cx="4754880" cy="128016"/>
          </a:xfrm>
          <a:prstGeom prst="roundRect">
            <a:avLst>
              <a:gd name="adj" fmla="val 12000"/>
            </a:avLst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46817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158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04748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Groups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5065775"/>
            <a:ext cx="4754880" cy="12801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14600" y="5065775"/>
            <a:ext cx="3009417" cy="128016"/>
          </a:xfrm>
          <a:prstGeom prst="roundRect">
            <a:avLst>
              <a:gd name="adj" fmla="val 12000"/>
            </a:avLst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02920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39496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Placement / email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5413248"/>
            <a:ext cx="4754880" cy="128016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14600" y="5413248"/>
            <a:ext cx="2768664" cy="128016"/>
          </a:xfrm>
          <a:prstGeom prst="roundRect">
            <a:avLst>
              <a:gd name="adj" fmla="val 12000"/>
            </a:avLst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5376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72C23"/>
                </a:solidFill>
                <a:latin typeface="Aptos"/>
              </a:rPr>
              <a:t>92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4069080"/>
            <a:ext cx="3063240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4315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NO DOUBLE COUNTING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4654296"/>
            <a:ext cx="2423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One valid email = one registration.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First tracked UTM source = channel.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Referral code = inviter, tracked separately.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No code/source? Keep as direct.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5989320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6A"/>
                </a:solidFill>
                <a:latin typeface="Aptos"/>
              </a:rPr>
              <a:t>Projection, not guarantee. Do not label these targets as actual sign-ups.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E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N  NXTWAVE  /  GROWTH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1089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4746A"/>
                </a:solidFill>
                <a:latin typeface="Aptos"/>
              </a:rPr>
              <a:t>05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58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WHAT WE CAN VALIDATE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2C23"/>
                </a:solidFill>
                <a:latin typeface="Aptos Display"/>
              </a:rPr>
              <a:t>A working local prototype—not a live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0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6A"/>
                </a:solidFill>
                <a:latin typeface="Aptos"/>
              </a:rPr>
              <a:t>React registration page · FastAPI API · SQLite local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12264"/>
            <a:ext cx="55778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STUDENT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212848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Consent, form validation, duplicate email check, unique code, referral URL, WhatsApp share.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98648"/>
            <a:ext cx="55778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PUBLIC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99232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Aggregate count to 500; top referrers by first name/code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85032"/>
            <a:ext cx="55778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0390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ADMIN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85616"/>
            <a:ext cx="37673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72C23"/>
                </a:solidFill>
                <a:latin typeface="Aptos"/>
              </a:rPr>
              <a:t>Token-protected channel/referral/daily metrics, search, CSV and labelled DEMO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103120"/>
            <a:ext cx="4892040" cy="2267712"/>
          </a:xfrm>
          <a:prstGeom prst="roundRect">
            <a:avLst>
              <a:gd name="adj" fmla="val 12000"/>
            </a:avLst>
          </a:prstGeom>
          <a:solidFill>
            <a:srgbClr val="E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6A"/>
                </a:solidFill>
                <a:latin typeface="Aptos"/>
              </a:rPr>
              <a:t>RISKS /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24912"/>
            <a:ext cx="416052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72C23"/>
                </a:solidFill>
                <a:latin typeface="Aptos"/>
              </a:rPr>
              <a:t>• Confirm event, project, recording and referral rewards.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• SQLite is local; do not collect real registrations yet.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• Before launch: persistent DB, secure admin, durable rate limit, consent/retention review.</a:t>
            </a:r>
            <a:br/>
            <a:r>
              <a:rPr sz="1000" b="0">
                <a:solidFill>
                  <a:srgbClr val="172C23"/>
                </a:solidFill>
                <a:latin typeface="Aptos"/>
              </a:rPr>
              <a:t>• Below plan? Improve the best converting permitted channel; 500 is a target.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45736"/>
            <a:ext cx="10817352" cy="832104"/>
          </a:xfrm>
          <a:prstGeom prst="roundRect">
            <a:avLst>
              <a:gd name="adj" fmla="val 12000"/>
            </a:avLst>
          </a:prstGeom>
          <a:solidFill>
            <a:srgbClr val="17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91947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3EF79"/>
                </a:solidFill>
                <a:latin typeface="Aptos"/>
              </a:rPr>
              <a:t>PROPOSED REWARDS · ASSUMPTION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4901184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3 successful referrals → project template pack  ·  10 → recognition certificate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89788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6A"/>
                </a:solidFill>
                <a:latin typeface="Aptos"/>
              </a:rPr>
              <a:t>Simulation only. Complete learning notes, rejections, reflections and 3-minute video script are documented in learning-notes.md.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