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3E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N  NXTWAVE  /  GROWTH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10896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64746A"/>
                </a:solidFill>
                <a:latin typeface="Aptos"/>
              </a:rPr>
              <a:t>01  / 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58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THE STUDENT + THE JOB TO BE DONE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05840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172C23"/>
                </a:solidFill>
                <a:latin typeface="Aptos Display"/>
              </a:rPr>
              <a:t>From “I studied AI” to “I built this.”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16002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6A"/>
                </a:solidFill>
                <a:latin typeface="Aptos"/>
              </a:rPr>
              <a:t>A credible first project is more motivating than another vague promise about 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48840"/>
            <a:ext cx="5257800" cy="3063240"/>
          </a:xfrm>
          <a:prstGeom prst="roundRect">
            <a:avLst>
              <a:gd name="adj" fmla="val 12000"/>
            </a:avLst>
          </a:prstGeom>
          <a:solidFill>
            <a:srgbClr val="ED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5059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PRIMARY PERSONA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70632"/>
            <a:ext cx="44805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72C23"/>
                </a:solidFill>
                <a:latin typeface="Aptos Display"/>
              </a:rPr>
              <a:t>Final-year B.Tech</a:t>
            </a:r>
            <a:br/>
            <a:r>
              <a:rPr sz="2600" b="1">
                <a:solidFill>
                  <a:srgbClr val="172C23"/>
                </a:solidFill>
                <a:latin typeface="Aptos Display"/>
              </a:rPr>
              <a:t>CSE (AI &amp; ML)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7033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4746A"/>
                </a:solidFill>
                <a:latin typeface="Aptos"/>
              </a:rPr>
              <a:t>Tier-2/3 college · balancing placements, coursework and project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07408"/>
            <a:ext cx="4434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72C23"/>
                </a:solidFill>
                <a:latin typeface="Aptos"/>
              </a:rPr>
              <a:t>“I know the concepts, but can I build and explain a working project?”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31343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MOTIVATION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578608"/>
            <a:ext cx="4937760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72C23"/>
                </a:solidFill>
                <a:latin typeface="Aptos"/>
              </a:rPr>
              <a:t>A small guided build they can explain—not a promise of AI mastery or a job.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31927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3 INSIGHTS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3602736"/>
            <a:ext cx="5285232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675887"/>
            <a:ext cx="4892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72C23"/>
                </a:solidFill>
                <a:latin typeface="Aptos"/>
              </a:rPr>
              <a:t>01   Name the project; “free” is not enough.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4041648"/>
            <a:ext cx="5285232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4114800"/>
            <a:ext cx="4892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72C23"/>
                </a:solidFill>
                <a:latin typeface="Aptos"/>
              </a:rPr>
              <a:t>02   Peer context can make a share feel relevant.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5352" y="4480560"/>
            <a:ext cx="5285232" cy="3474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4553712"/>
            <a:ext cx="4892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72C23"/>
                </a:solidFill>
                <a:latin typeface="Aptos"/>
              </a:rPr>
              <a:t>03   A 60-minute promise needs small scope.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504688"/>
            <a:ext cx="10954512" cy="713232"/>
          </a:xfrm>
          <a:prstGeom prst="roundRect">
            <a:avLst>
              <a:gd name="adj" fmla="val 12000"/>
            </a:avLst>
          </a:prstGeom>
          <a:solidFill>
            <a:srgbClr val="172C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5650992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3EF79"/>
                </a:solidFill>
                <a:latin typeface="Aptos"/>
              </a:rPr>
              <a:t>VALUE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23560"/>
            <a:ext cx="9235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Build one small AI chatbot/classifier in 60 minutes—with a guided walkthrough and starter code. (Assumption)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318504"/>
            <a:ext cx="10881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64746A"/>
                </a:solidFill>
                <a:latin typeface="Aptos"/>
              </a:rPr>
              <a:t>ASSUMED EVENT: Saturday 7 PM IST · 60 min · Zoom/Meet + recording · example AI tool/API + starter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3E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N  NXTWAVE  /  GROWTH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10896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64746A"/>
                </a:solidFill>
                <a:latin typeface="Aptos"/>
              </a:rPr>
              <a:t>02  / 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58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PRIORITISE TRUST AND TRACKABILITY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05840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172C23"/>
                </a:solidFill>
                <a:latin typeface="Aptos Display"/>
              </a:rPr>
              <a:t>Four focused channels. One clear ask.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16002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6A"/>
                </a:solidFill>
                <a:latin typeface="Aptos"/>
              </a:rPr>
              <a:t>Permission-based student distribution; projections only, not campaign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084831"/>
            <a:ext cx="2880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64746A"/>
                </a:solidFill>
                <a:latin typeface="Aptos"/>
              </a:rPr>
              <a:t>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2084831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64746A"/>
                </a:solidFill>
                <a:latin typeface="Aptos"/>
              </a:rPr>
              <a:t>PLANNING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2976" y="2084831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64746A"/>
                </a:solidFill>
                <a:latin typeface="Aptos"/>
              </a:rPr>
              <a:t>VISITS · CONV.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86016" y="2084831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64746A"/>
                </a:solidFill>
                <a:latin typeface="Aptos"/>
              </a:rPr>
              <a:t>REGISTRATIONS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1936" y="2084831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>
                <a:solidFill>
                  <a:srgbClr val="64746A"/>
                </a:solidFill>
                <a:latin typeface="Aptos"/>
              </a:rPr>
              <a:t>COST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359152"/>
            <a:ext cx="10954512" cy="6309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487168"/>
            <a:ext cx="277063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72C23"/>
                </a:solidFill>
                <a:latin typeface="Aptos"/>
              </a:rPr>
              <a:t>01  College technical clubs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2542032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72C23"/>
                </a:solidFill>
                <a:latin typeface="Aptos"/>
              </a:rPr>
              <a:t>5,000 reach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2976" y="2542032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72C23"/>
                </a:solidFill>
                <a:latin typeface="Aptos"/>
              </a:rPr>
              <a:t>600 / 25%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5420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72C23"/>
                </a:solidFill>
                <a:latin typeface="Aptos"/>
              </a:rPr>
              <a:t>150 regs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1936" y="254203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72C23"/>
                </a:solidFill>
                <a:latin typeface="Aptos"/>
              </a:rPr>
              <a:t>₹350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450592"/>
            <a:ext cx="16002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6A"/>
                </a:solidFill>
                <a:latin typeface="Aptos"/>
              </a:rPr>
              <a:t>One approved post with a concrete project and session scope.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118104"/>
            <a:ext cx="10954512" cy="6309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246120"/>
            <a:ext cx="277063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72C23"/>
                </a:solidFill>
                <a:latin typeface="Aptos"/>
              </a:rPr>
              <a:t>02  Student ambassadors / peers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75887" y="3300984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72C23"/>
                </a:solidFill>
                <a:latin typeface="Aptos"/>
              </a:rPr>
              <a:t>3,500 reach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22976" y="330098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72C23"/>
                </a:solidFill>
                <a:latin typeface="Aptos"/>
              </a:rPr>
              <a:t>525 / 30.1%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00984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72C23"/>
                </a:solidFill>
                <a:latin typeface="Aptos"/>
              </a:rPr>
              <a:t>158 regs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300984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72C23"/>
                </a:solidFill>
                <a:latin typeface="Aptos"/>
              </a:rPr>
              <a:t>₹450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3209544"/>
            <a:ext cx="16002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6A"/>
                </a:solidFill>
                <a:latin typeface="Aptos"/>
              </a:rPr>
              <a:t>Voluntary sharing; unique links and referral codes.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3877056"/>
            <a:ext cx="10954512" cy="6309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005072"/>
            <a:ext cx="277063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72C23"/>
                </a:solidFill>
                <a:latin typeface="Aptos"/>
              </a:rPr>
              <a:t>03  Permitted WhatsApp / Telegram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75887" y="4059936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72C23"/>
                </a:solidFill>
                <a:latin typeface="Aptos"/>
              </a:rPr>
              <a:t>5,000 reach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22976" y="40599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72C23"/>
                </a:solidFill>
                <a:latin typeface="Aptos"/>
              </a:rPr>
              <a:t>500 /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86016" y="4059936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72C23"/>
                </a:solidFill>
                <a:latin typeface="Aptos"/>
              </a:rPr>
              <a:t>100 regs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1936" y="4059936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72C23"/>
                </a:solidFill>
                <a:latin typeface="Aptos"/>
              </a:rPr>
              <a:t>₹300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3968496"/>
            <a:ext cx="16002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6A"/>
                </a:solidFill>
                <a:latin typeface="Aptos"/>
              </a:rPr>
              <a:t>One admin-approved post; no repeated or unsolicited messages.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636008"/>
            <a:ext cx="10954512" cy="6309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764024"/>
            <a:ext cx="277063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72C23"/>
                </a:solidFill>
                <a:latin typeface="Aptos"/>
              </a:rPr>
              <a:t>04  Placement communities / email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75887" y="4818888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72C23"/>
                </a:solidFill>
                <a:latin typeface="Aptos"/>
              </a:rPr>
              <a:t>7,500 reach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22976" y="4818888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72C23"/>
                </a:solidFill>
                <a:latin typeface="Aptos"/>
              </a:rPr>
              <a:t>600 / 15.3%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86016" y="481888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72C23"/>
                </a:solidFill>
                <a:latin typeface="Aptos"/>
              </a:rPr>
              <a:t>92 regs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31936" y="48188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72C23"/>
                </a:solidFill>
                <a:latin typeface="Aptos"/>
              </a:rPr>
              <a:t>₹250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4727448"/>
            <a:ext cx="16002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6A"/>
                </a:solidFill>
                <a:latin typeface="Aptos"/>
              </a:rPr>
              <a:t>Relevant communities; email only where permission is appropriate.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5568696"/>
            <a:ext cx="10954512" cy="640080"/>
          </a:xfrm>
          <a:prstGeom prst="roundRect">
            <a:avLst>
              <a:gd name="adj" fmla="val 12000"/>
            </a:avLst>
          </a:prstGeom>
          <a:solidFill>
            <a:srgbClr val="ED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769864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172C23"/>
                </a:solidFill>
                <a:latin typeface="Aptos"/>
              </a:rPr>
              <a:t>MEASURE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91640" y="5705856"/>
            <a:ext cx="950976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72C23"/>
                </a:solidFill>
                <a:latin typeface="Aptos"/>
              </a:rPr>
              <a:t>UTM link per channel + one registration per normalised email. Referral code is a separate inviter field.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3E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N  NXTWAVE  /  GROWTH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10896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64746A"/>
                </a:solidFill>
                <a:latin typeface="Aptos"/>
              </a:rPr>
              <a:t>03  / 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58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SEVEN DAYS, ₹2,000 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05840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172C23"/>
                </a:solidFill>
                <a:latin typeface="Aptos Display"/>
              </a:rPr>
              <a:t>Planned spend: ₹1,350. Keep ₹650 unspent.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16002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6A"/>
                </a:solidFill>
                <a:latin typeface="Aptos"/>
              </a:rPr>
              <a:t>Simulation only: no campaign spend or outreach has taken place.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176272"/>
            <a:ext cx="1408176" cy="950976"/>
          </a:xfrm>
          <a:prstGeom prst="roundRect">
            <a:avLst>
              <a:gd name="adj" fmla="val 12000"/>
            </a:avLst>
          </a:prstGeom>
          <a:solidFill>
            <a:srgbClr val="ED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231343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72C23"/>
                </a:solidFill>
                <a:latin typeface="Aptos"/>
              </a:rPr>
              <a:t>D1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2578608"/>
            <a:ext cx="11795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6A"/>
                </a:solidFill>
                <a:latin typeface="Aptos"/>
              </a:rPr>
              <a:t>Copy, page,</a:t>
            </a:r>
            <a:br/>
            <a:r>
              <a:rPr sz="800" b="0">
                <a:solidFill>
                  <a:srgbClr val="64746A"/>
                </a:solidFill>
                <a:latin typeface="Aptos"/>
              </a:rPr>
              <a:t>links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49424" y="2176272"/>
            <a:ext cx="1408176" cy="950976"/>
          </a:xfrm>
          <a:prstGeom prst="roundRect">
            <a:avLst>
              <a:gd name="adj" fmla="val 12000"/>
            </a:avLst>
          </a:prstGeom>
          <a:solidFill>
            <a:srgbClr val="ED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8296" y="231343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72C23"/>
                </a:solidFill>
                <a:latin typeface="Aptos"/>
              </a:rPr>
              <a:t>D2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8296" y="2578608"/>
            <a:ext cx="11795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6A"/>
                </a:solidFill>
                <a:latin typeface="Aptos"/>
              </a:rPr>
              <a:t>Ask clubs &amp;</a:t>
            </a:r>
            <a:br/>
            <a:r>
              <a:rPr sz="800" b="0">
                <a:solidFill>
                  <a:srgbClr val="64746A"/>
                </a:solidFill>
                <a:latin typeface="Aptos"/>
              </a:rPr>
              <a:t>admins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77056" y="2176272"/>
            <a:ext cx="1408176" cy="950976"/>
          </a:xfrm>
          <a:prstGeom prst="roundRect">
            <a:avLst>
              <a:gd name="adj" fmla="val 12000"/>
            </a:avLst>
          </a:prstGeom>
          <a:solidFill>
            <a:srgbClr val="ED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5928" y="231343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72C23"/>
                </a:solidFill>
                <a:latin typeface="Aptos"/>
              </a:rPr>
              <a:t>D3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5928" y="2578608"/>
            <a:ext cx="11795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6A"/>
                </a:solidFill>
                <a:latin typeface="Aptos"/>
              </a:rPr>
              <a:t>Approved club</a:t>
            </a:r>
            <a:br/>
            <a:r>
              <a:rPr sz="800" b="0">
                <a:solidFill>
                  <a:srgbClr val="64746A"/>
                </a:solidFill>
                <a:latin typeface="Aptos"/>
              </a:rPr>
              <a:t>sharing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04688" y="2176272"/>
            <a:ext cx="1408176" cy="950976"/>
          </a:xfrm>
          <a:prstGeom prst="roundRect">
            <a:avLst>
              <a:gd name="adj" fmla="val 12000"/>
            </a:avLst>
          </a:prstGeom>
          <a:solidFill>
            <a:srgbClr val="ED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23559" y="231343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72C23"/>
                </a:solidFill>
                <a:latin typeface="Aptos"/>
              </a:rPr>
              <a:t>D4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3559" y="2578608"/>
            <a:ext cx="11795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6A"/>
                </a:solidFill>
                <a:latin typeface="Aptos"/>
              </a:rPr>
              <a:t>Voluntary</a:t>
            </a:r>
            <a:br/>
            <a:r>
              <a:rPr sz="800" b="0">
                <a:solidFill>
                  <a:srgbClr val="64746A"/>
                </a:solidFill>
                <a:latin typeface="Aptos"/>
              </a:rPr>
              <a:t>referrals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2176272"/>
            <a:ext cx="1408176" cy="950976"/>
          </a:xfrm>
          <a:prstGeom prst="roundRect">
            <a:avLst>
              <a:gd name="adj" fmla="val 12000"/>
            </a:avLst>
          </a:prstGeom>
          <a:solidFill>
            <a:srgbClr val="ED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51192" y="231343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72C23"/>
                </a:solidFill>
                <a:latin typeface="Aptos"/>
              </a:rPr>
              <a:t>D5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51192" y="2578608"/>
            <a:ext cx="11795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6A"/>
                </a:solidFill>
                <a:latin typeface="Aptos"/>
              </a:rPr>
              <a:t>Placement /</a:t>
            </a:r>
            <a:br/>
            <a:r>
              <a:rPr sz="800" b="0">
                <a:solidFill>
                  <a:srgbClr val="64746A"/>
                </a:solidFill>
                <a:latin typeface="Aptos"/>
              </a:rPr>
              <a:t>permitted email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59952" y="2176272"/>
            <a:ext cx="1408176" cy="9509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78824" y="231343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72C23"/>
                </a:solidFill>
                <a:latin typeface="Aptos"/>
              </a:rPr>
              <a:t>D6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78824" y="2578608"/>
            <a:ext cx="11795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6A"/>
                </a:solidFill>
                <a:latin typeface="Aptos"/>
              </a:rPr>
              <a:t>Fix friction;</a:t>
            </a:r>
            <a:br/>
            <a:r>
              <a:rPr sz="800" b="0">
                <a:solidFill>
                  <a:srgbClr val="64746A"/>
                </a:solidFill>
                <a:latin typeface="Aptos"/>
              </a:rPr>
              <a:t>one reminder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87584" y="2176272"/>
            <a:ext cx="1408176" cy="9509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06456" y="231343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72C23"/>
                </a:solidFill>
                <a:latin typeface="Aptos"/>
              </a:rPr>
              <a:t>D7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06456" y="2578608"/>
            <a:ext cx="117957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4746A"/>
                </a:solidFill>
                <a:latin typeface="Aptos"/>
              </a:rPr>
              <a:t>Final check;</a:t>
            </a:r>
            <a:br/>
            <a:r>
              <a:rPr sz="800" b="0">
                <a:solidFill>
                  <a:srgbClr val="64746A"/>
                </a:solidFill>
                <a:latin typeface="Aptos"/>
              </a:rPr>
              <a:t>report actuals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" y="3538728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BUDGET 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3538728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PLANNED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3794760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72C23"/>
                </a:solidFill>
                <a:latin typeface="Aptos"/>
              </a:rPr>
              <a:t>Club posters / QR material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9160" y="379476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72C23"/>
                </a:solidFill>
                <a:latin typeface="Aptos"/>
              </a:rPr>
              <a:t>₹350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4114800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72C23"/>
                </a:solidFill>
                <a:latin typeface="Aptos"/>
              </a:rPr>
              <a:t>Volunteer coordination / travel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60" y="411480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72C23"/>
                </a:solidFill>
                <a:latin typeface="Aptos"/>
              </a:rPr>
              <a:t>₹450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" y="4434840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72C23"/>
                </a:solidFill>
                <a:latin typeface="Aptos"/>
              </a:rPr>
              <a:t>Community coordination / data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9160" y="443484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72C23"/>
                </a:solidFill>
                <a:latin typeface="Aptos"/>
              </a:rPr>
              <a:t>₹300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" y="4754880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72C23"/>
                </a:solidFill>
                <a:latin typeface="Aptos"/>
              </a:rPr>
              <a:t>Email / material preparation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60" y="475488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72C23"/>
                </a:solidFill>
                <a:latin typeface="Aptos"/>
              </a:rPr>
              <a:t>₹250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001768"/>
            <a:ext cx="5394960" cy="7315"/>
          </a:xfrm>
          <a:prstGeom prst="rect">
            <a:avLst/>
          </a:prstGeom>
          <a:solidFill>
            <a:srgbClr val="DCE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" y="5074920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72C23"/>
                </a:solidFill>
                <a:latin typeface="Aptos"/>
              </a:rPr>
              <a:t>Free tools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507492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72C23"/>
                </a:solidFill>
                <a:latin typeface="Aptos"/>
              </a:rPr>
              <a:t>₹0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" y="5394960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72C23"/>
                </a:solidFill>
                <a:latin typeface="Aptos"/>
              </a:rPr>
              <a:t>Unallocated buffer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09160" y="539496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72C23"/>
                </a:solidFill>
                <a:latin typeface="Aptos"/>
              </a:rPr>
              <a:t>₹650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5641848"/>
            <a:ext cx="5394960" cy="7315"/>
          </a:xfrm>
          <a:prstGeom prst="rect">
            <a:avLst/>
          </a:prstGeom>
          <a:solidFill>
            <a:srgbClr val="DCE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400800" y="3502152"/>
            <a:ext cx="5074920" cy="2450592"/>
          </a:xfrm>
          <a:prstGeom prst="roundRect">
            <a:avLst>
              <a:gd name="adj" fmla="val 12000"/>
            </a:avLst>
          </a:prstGeom>
          <a:solidFill>
            <a:srgbClr val="172C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720840" y="3794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3EF79"/>
                </a:solidFill>
                <a:latin typeface="Aptos"/>
              </a:rPr>
              <a:t>CHECKPOINTS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4142232"/>
            <a:ext cx="4297680" cy="1261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Day 3 · verify links and visits</a:t>
            </a:r>
            <a:br/>
            <a:r>
              <a:rPr sz="1100" b="0">
                <a:solidFill>
                  <a:srgbClr val="FFFFFF"/>
                </a:solidFill>
                <a:latin typeface="Aptos"/>
              </a:rPr>
              <a:t>Day 4 · inspect referral attribution</a:t>
            </a:r>
            <a:br/>
            <a:r>
              <a:rPr sz="1100" b="0">
                <a:solidFill>
                  <a:srgbClr val="FFFFFF"/>
                </a:solidFill>
                <a:latin typeface="Aptos"/>
              </a:rPr>
              <a:t>Day 5 · compare actuals with plan</a:t>
            </a:r>
            <a:br/>
            <a:r>
              <a:rPr sz="1100" b="0">
                <a:solidFill>
                  <a:srgbClr val="FFFFFF"/>
                </a:solidFill>
                <a:latin typeface="Aptos"/>
              </a:rPr>
              <a:t>Day 6 · improve copy/form before adding channels</a:t>
            </a:r>
            <a:br/>
            <a:r>
              <a:rPr sz="1100" b="0">
                <a:solidFill>
                  <a:srgbClr val="FFFFFF"/>
                </a:solidFill>
                <a:latin typeface="Aptos"/>
              </a:rPr>
              <a:t>Day 7 · report actuals separately from target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0840" y="553212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3EF79"/>
                </a:solidFill>
                <a:latin typeface="Aptos"/>
              </a:rPr>
              <a:t>Only spend buffer with a clear, permitted use.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3E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N  NXTWAVE  /  GROWTH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10896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64746A"/>
                </a:solidFill>
                <a:latin typeface="Aptos"/>
              </a:rPr>
              <a:t>04  / 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58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TRANSPARENT PLANNING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05840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172C23"/>
                </a:solidFill>
                <a:latin typeface="Aptos Display"/>
              </a:rPr>
              <a:t>Target funnel: 21,000 → 2,225 → 500.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16002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6A"/>
                </a:solidFill>
                <a:latin typeface="Aptos"/>
              </a:rPr>
              <a:t>Planning assumptions: reach may overlap; channel-attributed registrations do not.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48840"/>
            <a:ext cx="3401568" cy="1371600"/>
          </a:xfrm>
          <a:prstGeom prst="roundRect">
            <a:avLst>
              <a:gd name="adj" fmla="val 12000"/>
            </a:avLst>
          </a:prstGeom>
          <a:solidFill>
            <a:srgbClr val="ED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9572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PLANNED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88336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72C23"/>
                </a:solidFill>
                <a:latin typeface="Aptos Display"/>
              </a:rPr>
              <a:t>21,000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172968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6A"/>
                </a:solidFill>
                <a:latin typeface="Aptos"/>
              </a:rPr>
              <a:t>10.6% reach → visit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651760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64746A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2148840"/>
            <a:ext cx="3401568" cy="1371600"/>
          </a:xfrm>
          <a:prstGeom prst="roundRect">
            <a:avLst>
              <a:gd name="adj" fmla="val 12000"/>
            </a:avLst>
          </a:prstGeom>
          <a:solidFill>
            <a:srgbClr val="ED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39572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VISITS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88336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72C23"/>
                </a:solidFill>
                <a:latin typeface="Aptos Display"/>
              </a:rPr>
              <a:t>2,225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172968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6A"/>
                </a:solidFill>
                <a:latin typeface="Aptos"/>
              </a:rPr>
              <a:t>22.5% visit → registration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651760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64746A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2148840"/>
            <a:ext cx="3401568" cy="1371600"/>
          </a:xfrm>
          <a:prstGeom prst="roundRect">
            <a:avLst>
              <a:gd name="adj" fmla="val 12000"/>
            </a:avLst>
          </a:prstGeom>
          <a:solidFill>
            <a:srgbClr val="172C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239572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3EF79"/>
                </a:solidFill>
                <a:latin typeface="Aptos"/>
              </a:rPr>
              <a:t>REGISTRATIONS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2688336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 Display"/>
              </a:rPr>
              <a:t>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172968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100% of target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3977639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REGISTRATION TARGET BY CHANNEL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" y="4352544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72C23"/>
                </a:solidFill>
                <a:latin typeface="Aptos"/>
              </a:rPr>
              <a:t>Clubs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14600" y="4370831"/>
            <a:ext cx="4754880" cy="128016"/>
          </a:xfrm>
          <a:prstGeom prst="roundRect">
            <a:avLst>
              <a:gd name="adj" fmla="val 12000"/>
            </a:avLst>
          </a:prstGeom>
          <a:solidFill>
            <a:srgbClr val="ED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514600" y="4370831"/>
            <a:ext cx="4514126" cy="128016"/>
          </a:xfrm>
          <a:prstGeom prst="roundRect">
            <a:avLst>
              <a:gd name="adj" fmla="val 12000"/>
            </a:avLst>
          </a:prstGeom>
          <a:solidFill>
            <a:srgbClr val="C3E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4334256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72C23"/>
                </a:solidFill>
                <a:latin typeface="Aptos"/>
              </a:rPr>
              <a:t>150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" y="4700016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72C23"/>
                </a:solidFill>
                <a:latin typeface="Aptos"/>
              </a:rPr>
              <a:t>Peers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14600" y="4718303"/>
            <a:ext cx="4754880" cy="128016"/>
          </a:xfrm>
          <a:prstGeom prst="roundRect">
            <a:avLst>
              <a:gd name="adj" fmla="val 12000"/>
            </a:avLst>
          </a:prstGeom>
          <a:solidFill>
            <a:srgbClr val="ED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514600" y="4718303"/>
            <a:ext cx="4754880" cy="128016"/>
          </a:xfrm>
          <a:prstGeom prst="roundRect">
            <a:avLst>
              <a:gd name="adj" fmla="val 12000"/>
            </a:avLst>
          </a:prstGeom>
          <a:solidFill>
            <a:srgbClr val="C3E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52360" y="468172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72C23"/>
                </a:solidFill>
                <a:latin typeface="Aptos"/>
              </a:rPr>
              <a:t>158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" y="50474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72C23"/>
                </a:solidFill>
                <a:latin typeface="Aptos"/>
              </a:rPr>
              <a:t>Groups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14600" y="5065775"/>
            <a:ext cx="4754880" cy="128016"/>
          </a:xfrm>
          <a:prstGeom prst="roundRect">
            <a:avLst>
              <a:gd name="adj" fmla="val 12000"/>
            </a:avLst>
          </a:prstGeom>
          <a:solidFill>
            <a:srgbClr val="ED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14600" y="5065775"/>
            <a:ext cx="3009417" cy="128016"/>
          </a:xfrm>
          <a:prstGeom prst="roundRect">
            <a:avLst>
              <a:gd name="adj" fmla="val 12000"/>
            </a:avLst>
          </a:prstGeom>
          <a:solidFill>
            <a:srgbClr val="C3E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5029200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72C23"/>
                </a:solidFill>
                <a:latin typeface="Aptos"/>
              </a:rPr>
              <a:t>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" y="5394960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72C23"/>
                </a:solidFill>
                <a:latin typeface="Aptos"/>
              </a:rPr>
              <a:t>Placement / email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14600" y="5413248"/>
            <a:ext cx="4754880" cy="128016"/>
          </a:xfrm>
          <a:prstGeom prst="roundRect">
            <a:avLst>
              <a:gd name="adj" fmla="val 12000"/>
            </a:avLst>
          </a:prstGeom>
          <a:solidFill>
            <a:srgbClr val="ED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14600" y="5413248"/>
            <a:ext cx="2768664" cy="128016"/>
          </a:xfrm>
          <a:prstGeom prst="roundRect">
            <a:avLst>
              <a:gd name="adj" fmla="val 12000"/>
            </a:avLst>
          </a:prstGeom>
          <a:solidFill>
            <a:srgbClr val="C3E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52360" y="537667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72C23"/>
                </a:solidFill>
                <a:latin typeface="Aptos"/>
              </a:rPr>
              <a:t>92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66760" y="4069080"/>
            <a:ext cx="3063240" cy="1746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22792" y="431596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NO DOUBLE COUNTING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22792" y="4654296"/>
            <a:ext cx="24231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72C23"/>
                </a:solidFill>
                <a:latin typeface="Aptos"/>
              </a:rPr>
              <a:t>One valid email = one registration.</a:t>
            </a:r>
            <a:br/>
            <a:r>
              <a:rPr sz="1000" b="0">
                <a:solidFill>
                  <a:srgbClr val="172C23"/>
                </a:solidFill>
                <a:latin typeface="Aptos"/>
              </a:rPr>
              <a:t>First tracked UTM source = channel.</a:t>
            </a:r>
            <a:br/>
            <a:r>
              <a:rPr sz="1000" b="0">
                <a:solidFill>
                  <a:srgbClr val="172C23"/>
                </a:solidFill>
                <a:latin typeface="Aptos"/>
              </a:rPr>
              <a:t>Referral code = inviter, tracked separately.</a:t>
            </a:r>
            <a:br/>
            <a:r>
              <a:rPr sz="1000" b="0">
                <a:solidFill>
                  <a:srgbClr val="172C23"/>
                </a:solidFill>
                <a:latin typeface="Aptos"/>
              </a:rPr>
              <a:t>No code/source? Keep as direct.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" y="5989320"/>
            <a:ext cx="10332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64746A"/>
                </a:solidFill>
                <a:latin typeface="Aptos"/>
              </a:rPr>
              <a:t>Projection, not guarantee. Do not label these targets as actual sign-ups.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3EF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10896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N  NXTWAVE  /  GROWTH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10896"/>
            <a:ext cx="1005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1">
                <a:solidFill>
                  <a:srgbClr val="64746A"/>
                </a:solidFill>
                <a:latin typeface="Aptos"/>
              </a:rPr>
              <a:t>05  / 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58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WHAT WE CAN VALIDATE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05840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172C23"/>
                </a:solidFill>
                <a:latin typeface="Aptos Display"/>
              </a:rPr>
              <a:t>A working local prototype—not a live campaign.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16002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4746A"/>
                </a:solidFill>
                <a:latin typeface="Aptos"/>
              </a:rPr>
              <a:t>React registration page · FastAPI API · SQLite local storage.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12264"/>
            <a:ext cx="55778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31136"/>
            <a:ext cx="12070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STUDENT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2212848"/>
            <a:ext cx="3767328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72C23"/>
                </a:solidFill>
                <a:latin typeface="Aptos"/>
              </a:rPr>
              <a:t>Consent, form validation, duplicate email check, unique code, referral URL, WhatsApp share.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98648"/>
            <a:ext cx="55778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17520"/>
            <a:ext cx="12070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PUBLIC 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999232"/>
            <a:ext cx="3767328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72C23"/>
                </a:solidFill>
                <a:latin typeface="Aptos"/>
              </a:rPr>
              <a:t>Aggregate count to 500; top referrers by first name/code only.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85032"/>
            <a:ext cx="55778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03904"/>
            <a:ext cx="12070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ADMIN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3785616"/>
            <a:ext cx="3767328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72C23"/>
                </a:solidFill>
                <a:latin typeface="Aptos"/>
              </a:rPr>
              <a:t>Token-protected channel/referral/daily metrics, search, CSV and labelled DEMO data.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65392" y="2103120"/>
            <a:ext cx="4892040" cy="2267712"/>
          </a:xfrm>
          <a:prstGeom prst="roundRect">
            <a:avLst>
              <a:gd name="adj" fmla="val 12000"/>
            </a:avLst>
          </a:prstGeom>
          <a:solidFill>
            <a:srgbClr val="ED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239572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64746A"/>
                </a:solidFill>
                <a:latin typeface="Aptos"/>
              </a:rPr>
              <a:t>RISKS / 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724912"/>
            <a:ext cx="416052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72C23"/>
                </a:solidFill>
                <a:latin typeface="Aptos"/>
              </a:rPr>
              <a:t>• Confirm event, project, recording and referral rewards.</a:t>
            </a:r>
            <a:br/>
            <a:r>
              <a:rPr sz="1000" b="0">
                <a:solidFill>
                  <a:srgbClr val="172C23"/>
                </a:solidFill>
                <a:latin typeface="Aptos"/>
              </a:rPr>
              <a:t>• SQLite is local; do not collect real registrations yet.</a:t>
            </a:r>
            <a:br/>
            <a:r>
              <a:rPr sz="1000" b="0">
                <a:solidFill>
                  <a:srgbClr val="172C23"/>
                </a:solidFill>
                <a:latin typeface="Aptos"/>
              </a:rPr>
              <a:t>• Before launch: persistent DB, secure admin, durable rate limit, consent/retention review.</a:t>
            </a:r>
            <a:br/>
            <a:r>
              <a:rPr sz="1000" b="0">
                <a:solidFill>
                  <a:srgbClr val="172C23"/>
                </a:solidFill>
                <a:latin typeface="Aptos"/>
              </a:rPr>
              <a:t>• Below plan? Improve the best converting permitted channel; 500 is a target.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45736"/>
            <a:ext cx="10817352" cy="832104"/>
          </a:xfrm>
          <a:prstGeom prst="roundRect">
            <a:avLst>
              <a:gd name="adj" fmla="val 12000"/>
            </a:avLst>
          </a:prstGeom>
          <a:solidFill>
            <a:srgbClr val="172C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91947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C3EF79"/>
                </a:solidFill>
                <a:latin typeface="Aptos"/>
              </a:rPr>
              <a:t>PROPOSED REWARDS · ASSUMPTION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90672" y="4901184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3 successful referrals → project template pack  ·  10 → recognition certificate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897880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6A"/>
                </a:solidFill>
                <a:latin typeface="Aptos"/>
              </a:rPr>
              <a:t>Simulation only. Complete learning notes, rejections, reflections and 3-minute video script are documented in learning-notes.md.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